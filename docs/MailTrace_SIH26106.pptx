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502920" y="502920"/>
            <a:ext cx="57607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26EAA"/>
                </a:solidFill>
                <a:latin typeface="Georgia"/>
              </a:rPr>
              <a:t>SMART INDIA HACKATHON 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960120"/>
            <a:ext cx="544068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8212B"/>
                </a:solidFill>
                <a:latin typeface="Georgia"/>
              </a:rPr>
              <a:t>MailTrace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1444752"/>
            <a:ext cx="54406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8212B"/>
                </a:solidFill>
                <a:latin typeface="Arial"/>
              </a:rPr>
              <a:t>Explainable email threat detection with origin and campaign forensics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1810512"/>
            <a:ext cx="822960" cy="54864"/>
          </a:xfrm>
          <a:prstGeom prst="rect">
            <a:avLst/>
          </a:prstGeom>
          <a:solidFill>
            <a:srgbClr val="A94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" y="1947672"/>
            <a:ext cx="54406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E6870"/>
                </a:solidFill>
                <a:latin typeface="Arial"/>
              </a:rPr>
              <a:t>Upload a saved email. See the evidence behind its risk and likely infrastructure.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2487168"/>
            <a:ext cx="144475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20" b="1" i="0">
                <a:solidFill>
                  <a:srgbClr val="5E6870"/>
                </a:solidFill>
                <a:latin typeface="Arial"/>
              </a:rPr>
              <a:t>PROBLEM STATEMENT ID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93392" y="2468880"/>
            <a:ext cx="385876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8212B"/>
                </a:solidFill>
                <a:latin typeface="Arial"/>
              </a:rPr>
              <a:t>SIH26106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2916936"/>
            <a:ext cx="144475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20" b="1" i="0">
                <a:solidFill>
                  <a:srgbClr val="5E6870"/>
                </a:solidFill>
                <a:latin typeface="Arial"/>
              </a:rPr>
              <a:t>PROBLEM STATEMENT TITLE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993392" y="2898648"/>
            <a:ext cx="38587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90" b="1" i="0">
                <a:solidFill>
                  <a:srgbClr val="18212B"/>
                </a:solidFill>
                <a:latin typeface="Arial"/>
              </a:rPr>
              <a:t>AI-Powered Email Threat Detection, GeoLocation and Forensic Intelligence Platform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3502152"/>
            <a:ext cx="144475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20" b="1" i="0">
                <a:solidFill>
                  <a:srgbClr val="5E6870"/>
                </a:solidFill>
                <a:latin typeface="Arial"/>
              </a:rPr>
              <a:t>THEME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993392" y="3483864"/>
            <a:ext cx="385876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8212B"/>
                </a:solidFill>
                <a:latin typeface="Arial"/>
              </a:rPr>
              <a:t>Blockchain &amp; Cybersecurity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" y="3931920"/>
            <a:ext cx="144475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20" b="1" i="0">
                <a:solidFill>
                  <a:srgbClr val="5E6870"/>
                </a:solidFill>
                <a:latin typeface="Arial"/>
              </a:rPr>
              <a:t>PS CATEGORY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993392" y="3913632"/>
            <a:ext cx="385876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8212B"/>
                </a:solidFill>
                <a:latin typeface="Arial"/>
              </a:rPr>
              <a:t>Software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4361688"/>
            <a:ext cx="144475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20" b="1" i="0">
                <a:solidFill>
                  <a:srgbClr val="5E6870"/>
                </a:solidFill>
                <a:latin typeface="Arial"/>
              </a:rPr>
              <a:t>TEAM ID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993392" y="4343400"/>
            <a:ext cx="385876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A94531"/>
                </a:solidFill>
                <a:latin typeface="Arial"/>
              </a:rPr>
              <a:t>[ENTER PORTAL TEAM ID]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920" y="4791456"/>
            <a:ext cx="144475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20" b="1" i="0">
                <a:solidFill>
                  <a:srgbClr val="5E6870"/>
                </a:solidFill>
                <a:latin typeface="Arial"/>
              </a:rPr>
              <a:t>TEAM NAME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93392" y="4773168"/>
            <a:ext cx="385876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A94531"/>
                </a:solidFill>
                <a:latin typeface="Arial"/>
              </a:rPr>
              <a:t>[ENTER REGISTERED TEAM NAME]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wrap="square" lIns="45720" rIns="45720" tIns="27432" bIns="27432"/>
          <a:lstStyle/>
          <a:p>
            <a:pPr algn="ctr"/>
            <a:r>
              <a:rPr sz="900" b="0">
                <a:solidFill>
                  <a:srgbClr val="FFFFFF"/>
                </a:solidFill>
                <a:latin typeface="Arial"/>
              </a:rPr>
              <a:t>2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2920" y="502920"/>
            <a:ext cx="10972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212B"/>
                </a:solidFill>
                <a:latin typeface="Georgia"/>
              </a:rPr>
              <a:t>From one suspicious message to a connected case file.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896112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E6870"/>
                </a:solidFill>
                <a:latin typeface="Arial"/>
              </a:rPr>
              <a:t>MailTrace combines detection, origin context and campaign correlation in one analyst workflow.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1261872"/>
            <a:ext cx="2011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126EAA"/>
                </a:solidFill>
                <a:latin typeface="Arial"/>
              </a:rPr>
              <a:t>PROPOSED SOLUTION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1554480"/>
            <a:ext cx="2267712" cy="1097280"/>
          </a:xfrm>
          <a:prstGeom prst="rect">
            <a:avLst/>
          </a:prstGeom>
          <a:solidFill>
            <a:srgbClr val="EAF3F8"/>
          </a:solidFill>
          <a:ln w="12700">
            <a:solidFill>
              <a:srgbClr val="CBD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1554480"/>
            <a:ext cx="2267712" cy="64008"/>
          </a:xfrm>
          <a:prstGeom prst="rect">
            <a:avLst/>
          </a:prstGeom>
          <a:solidFill>
            <a:srgbClr val="126E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1682495"/>
            <a:ext cx="208483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126EAA"/>
                </a:solidFill>
                <a:latin typeface="Arial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1901952"/>
            <a:ext cx="208483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8212B"/>
                </a:solidFill>
                <a:latin typeface="Arial"/>
              </a:rPr>
              <a:t>CAPTURE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176272"/>
            <a:ext cx="2084831" cy="3840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10" b="0" i="0">
                <a:solidFill>
                  <a:srgbClr val="5E6870"/>
                </a:solidFill>
                <a:latin typeface="Arial"/>
              </a:rPr>
              <a:t>.eml bytes stay local; hash exact evidence.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770632" y="2103120"/>
            <a:ext cx="310896" cy="0"/>
          </a:xfrm>
          <a:prstGeom prst="line">
            <a:avLst/>
          </a:prstGeom>
          <a:ln w="17780">
            <a:solidFill>
              <a:srgbClr val="5E6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3154680" y="1554480"/>
            <a:ext cx="2267712" cy="1097280"/>
          </a:xfrm>
          <a:prstGeom prst="rect">
            <a:avLst/>
          </a:prstGeom>
          <a:solidFill>
            <a:srgbClr val="EAF3F8"/>
          </a:solidFill>
          <a:ln w="12700">
            <a:solidFill>
              <a:srgbClr val="CBD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154680" y="1554480"/>
            <a:ext cx="2267712" cy="64008"/>
          </a:xfrm>
          <a:prstGeom prst="rect">
            <a:avLst/>
          </a:prstGeom>
          <a:solidFill>
            <a:srgbClr val="126E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46120" y="1682495"/>
            <a:ext cx="208483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126EAA"/>
                </a:solidFill>
                <a:latin typeface="Arial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46120" y="1901952"/>
            <a:ext cx="208483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8212B"/>
                </a:solidFill>
                <a:latin typeface="Arial"/>
              </a:rPr>
              <a:t>EXTRACT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2176272"/>
            <a:ext cx="2084831" cy="3840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10" b="0" i="0">
                <a:solidFill>
                  <a:srgbClr val="5E6870"/>
                </a:solidFill>
                <a:latin typeface="Arial"/>
              </a:rPr>
              <a:t>Headers, links, MIME parts and Received chain.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22392" y="2103120"/>
            <a:ext cx="310896" cy="0"/>
          </a:xfrm>
          <a:prstGeom prst="line">
            <a:avLst/>
          </a:prstGeom>
          <a:ln w="17780">
            <a:solidFill>
              <a:srgbClr val="5E6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5806440" y="1554480"/>
            <a:ext cx="2267712" cy="1097280"/>
          </a:xfrm>
          <a:prstGeom prst="rect">
            <a:avLst/>
          </a:prstGeom>
          <a:solidFill>
            <a:srgbClr val="F7E9E4"/>
          </a:solidFill>
          <a:ln w="12700">
            <a:solidFill>
              <a:srgbClr val="CBD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806440" y="1554480"/>
            <a:ext cx="2267712" cy="64008"/>
          </a:xfrm>
          <a:prstGeom prst="rect">
            <a:avLst/>
          </a:prstGeom>
          <a:solidFill>
            <a:srgbClr val="A94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97879" y="1682495"/>
            <a:ext cx="208483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A94531"/>
                </a:solidFill>
                <a:latin typeface="Arial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97879" y="1901952"/>
            <a:ext cx="208483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8212B"/>
                </a:solidFill>
                <a:latin typeface="Arial"/>
              </a:rPr>
              <a:t>EXPLAIN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97879" y="2176272"/>
            <a:ext cx="2084831" cy="3840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10" b="0" i="0">
                <a:solidFill>
                  <a:srgbClr val="5E6870"/>
                </a:solidFill>
                <a:latin typeface="Arial"/>
              </a:rPr>
              <a:t>Auth evidence, score and citeable reasons.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074152" y="2103120"/>
            <a:ext cx="310896" cy="0"/>
          </a:xfrm>
          <a:prstGeom prst="line">
            <a:avLst/>
          </a:prstGeom>
          <a:ln w="17780">
            <a:solidFill>
              <a:srgbClr val="5E6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8458200" y="1554480"/>
            <a:ext cx="2267712" cy="1097280"/>
          </a:xfrm>
          <a:prstGeom prst="rect">
            <a:avLst/>
          </a:prstGeom>
          <a:solidFill>
            <a:srgbClr val="EAF3F8"/>
          </a:solidFill>
          <a:ln w="12700">
            <a:solidFill>
              <a:srgbClr val="CBD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458200" y="1554480"/>
            <a:ext cx="2267712" cy="64008"/>
          </a:xfrm>
          <a:prstGeom prst="rect">
            <a:avLst/>
          </a:prstGeom>
          <a:solidFill>
            <a:srgbClr val="126E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49640" y="1682495"/>
            <a:ext cx="208483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126EAA"/>
                </a:solidFill>
                <a:latin typeface="Arial"/>
              </a:rPr>
              <a:t>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49640" y="1901952"/>
            <a:ext cx="208483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8212B"/>
                </a:solidFill>
                <a:latin typeface="Arial"/>
              </a:rPr>
              <a:t>CONNECT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49640" y="2176272"/>
            <a:ext cx="2084831" cy="3840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10" b="0" i="0">
                <a:solidFill>
                  <a:srgbClr val="5E6870"/>
                </a:solidFill>
                <a:latin typeface="Arial"/>
              </a:rPr>
              <a:t>Shared Reply-To, domain or hop IP becomes a campaign lead.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2834640"/>
            <a:ext cx="2194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A94531"/>
                </a:solidFill>
                <a:latin typeface="Arial"/>
              </a:rPr>
              <a:t>INNOVATION PROOF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3090672"/>
            <a:ext cx="11109960" cy="2267712"/>
          </a:xfrm>
          <a:prstGeom prst="rect">
            <a:avLst/>
          </a:prstGeom>
          <a:solidFill>
            <a:srgbClr val="FBFAF6"/>
          </a:solidFill>
          <a:ln w="12700">
            <a:solidFill>
              <a:srgbClr val="CBD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3232" y="3264408"/>
            <a:ext cx="10972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126EAA"/>
                </a:solidFill>
                <a:latin typeface="Arial"/>
              </a:rPr>
              <a:t>CAMPAIGN CORRELATION  /  TWO CASES, ONE EXPLAINABLE RELATIONSHIP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8680" y="3776472"/>
            <a:ext cx="3337560" cy="1078992"/>
          </a:xfrm>
          <a:prstGeom prst="rect">
            <a:avLst/>
          </a:prstGeom>
          <a:solidFill>
            <a:srgbClr val="F1EEE7"/>
          </a:solidFill>
          <a:ln w="12700">
            <a:solidFill>
              <a:srgbClr val="1821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60704" y="3931920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26EAA"/>
                </a:solidFill>
                <a:latin typeface="Arial"/>
              </a:rPr>
              <a:t>07  /  CLOUD HOPS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60704" y="4224528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8212B"/>
                </a:solidFill>
                <a:latin typeface="Arial"/>
              </a:rPr>
              <a:t>mail-secure.net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0704" y="4535424"/>
            <a:ext cx="2926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5E6870"/>
                </a:solidFill>
                <a:latin typeface="Arial"/>
              </a:rPr>
              <a:t>Reply-To + 18.184.10.20 / AWS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909560" y="3776472"/>
            <a:ext cx="3337560" cy="1078992"/>
          </a:xfrm>
          <a:prstGeom prst="rect">
            <a:avLst/>
          </a:prstGeom>
          <a:solidFill>
            <a:srgbClr val="F7E9E4"/>
          </a:solidFill>
          <a:ln w="12700">
            <a:solidFill>
              <a:srgbClr val="A945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101583" y="3931920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A94531"/>
                </a:solidFill>
                <a:latin typeface="Arial"/>
              </a:rPr>
              <a:t>08  /  CAMPAIGN TWIN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3" y="4224528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8212B"/>
                </a:solidFill>
                <a:latin typeface="Arial"/>
              </a:rPr>
              <a:t>mail-secure.net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01583" y="4535424"/>
            <a:ext cx="2926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5E6870"/>
                </a:solidFill>
                <a:latin typeface="Arial"/>
              </a:rPr>
              <a:t>Reply-To + 18.184.10.20 / AWS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4206240" y="4315968"/>
            <a:ext cx="3703320" cy="0"/>
          </a:xfrm>
          <a:prstGeom prst="line">
            <a:avLst/>
          </a:prstGeom>
          <a:ln w="31750">
            <a:solidFill>
              <a:srgbClr val="A945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5148072" y="4005072"/>
            <a:ext cx="1828800" cy="640080"/>
          </a:xfrm>
          <a:prstGeom prst="rect">
            <a:avLst/>
          </a:prstGeom>
          <a:solidFill>
            <a:srgbClr val="FBFAF6"/>
          </a:solidFill>
          <a:ln w="12700">
            <a:solidFill>
              <a:srgbClr val="A945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294376" y="4123944"/>
            <a:ext cx="153619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94531"/>
                </a:solidFill>
                <a:latin typeface="Arial"/>
              </a:rPr>
              <a:t>SHARED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94376" y="4315968"/>
            <a:ext cx="153619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40" b="0" i="0">
                <a:solidFill>
                  <a:srgbClr val="18212B"/>
                </a:solidFill>
                <a:latin typeface="Arial"/>
              </a:rPr>
              <a:t>Reply-To + hop + domain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3232" y="5138928"/>
            <a:ext cx="106070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30" b="0" i="0">
                <a:solidFill>
                  <a:srgbClr val="5E6870"/>
                </a:solidFill>
                <a:latin typeface="Arial"/>
              </a:rPr>
              <a:t>Correlation creates a campaign candidate — never an identity or exact-location claim.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wrap="square" lIns="45720" rIns="45720" tIns="27432" bIns="27432"/>
          <a:lstStyle/>
          <a:p>
            <a:pPr algn="ctr"/>
            <a:r>
              <a:rPr sz="900" b="0">
                <a:solidFill>
                  <a:srgbClr val="FFFFFF"/>
                </a:solidFill>
                <a:latin typeface="Arial"/>
              </a:rPr>
              <a:t>3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02920" y="502920"/>
            <a:ext cx="10972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212B"/>
                </a:solidFill>
                <a:latin typeface="Georgia"/>
              </a:rPr>
              <a:t>Evidence pipeline: small, explainable modules.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896112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E6870"/>
                </a:solidFill>
                <a:latin typeface="Arial"/>
              </a:rPr>
              <a:t>The working prototype is deterministic first; NLP is one supporting signal, not the whole product.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1261872"/>
            <a:ext cx="2011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126EAA"/>
                </a:solidFill>
                <a:latin typeface="Arial"/>
              </a:rPr>
              <a:t>METHODOLOGY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1554480"/>
            <a:ext cx="2148840" cy="1005840"/>
          </a:xfrm>
          <a:prstGeom prst="rect">
            <a:avLst/>
          </a:prstGeom>
          <a:solidFill>
            <a:srgbClr val="EAF3F8"/>
          </a:solidFill>
          <a:ln w="12700">
            <a:solidFill>
              <a:srgbClr val="CBD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1554480"/>
            <a:ext cx="2148840" cy="64008"/>
          </a:xfrm>
          <a:prstGeom prst="rect">
            <a:avLst/>
          </a:prstGeom>
          <a:solidFill>
            <a:srgbClr val="126E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1682495"/>
            <a:ext cx="19659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126EAA"/>
                </a:solidFill>
                <a:latin typeface="Arial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1901952"/>
            <a:ext cx="1965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8212B"/>
                </a:solidFill>
                <a:latin typeface="Arial"/>
              </a:rPr>
              <a:t> .EML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2176272"/>
            <a:ext cx="1965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10" b="0" i="0">
                <a:solidFill>
                  <a:srgbClr val="5E6870"/>
                </a:solidFill>
                <a:latin typeface="Arial"/>
              </a:rPr>
              <a:t>raw bytes + SHA-256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51760" y="2057400"/>
            <a:ext cx="256031" cy="0"/>
          </a:xfrm>
          <a:prstGeom prst="line">
            <a:avLst/>
          </a:prstGeom>
          <a:ln w="16510">
            <a:solidFill>
              <a:srgbClr val="5E6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2834639" y="1554480"/>
            <a:ext cx="2148840" cy="1005840"/>
          </a:xfrm>
          <a:prstGeom prst="rect">
            <a:avLst/>
          </a:prstGeom>
          <a:solidFill>
            <a:srgbClr val="EAF3F8"/>
          </a:solidFill>
          <a:ln w="12700">
            <a:solidFill>
              <a:srgbClr val="CBD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834639" y="1554480"/>
            <a:ext cx="2148840" cy="64008"/>
          </a:xfrm>
          <a:prstGeom prst="rect">
            <a:avLst/>
          </a:prstGeom>
          <a:solidFill>
            <a:srgbClr val="126E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926079" y="1682495"/>
            <a:ext cx="19659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126EAA"/>
                </a:solidFill>
                <a:latin typeface="Arial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79" y="1901952"/>
            <a:ext cx="1965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8212B"/>
                </a:solidFill>
                <a:latin typeface="Arial"/>
              </a:rPr>
              <a:t> MIME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26079" y="2176272"/>
            <a:ext cx="1965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10" b="0" i="0">
                <a:solidFill>
                  <a:srgbClr val="5E6870"/>
                </a:solidFill>
                <a:latin typeface="Arial"/>
              </a:rPr>
              <a:t>headers, body, URLs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983479" y="2057400"/>
            <a:ext cx="256033" cy="0"/>
          </a:xfrm>
          <a:prstGeom prst="line">
            <a:avLst/>
          </a:prstGeom>
          <a:ln w="16510">
            <a:solidFill>
              <a:srgbClr val="5E6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5166359" y="1554480"/>
            <a:ext cx="2148840" cy="1005840"/>
          </a:xfrm>
          <a:prstGeom prst="rect">
            <a:avLst/>
          </a:prstGeom>
          <a:solidFill>
            <a:srgbClr val="F7E9E4"/>
          </a:solidFill>
          <a:ln w="12700">
            <a:solidFill>
              <a:srgbClr val="CBD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166359" y="1554480"/>
            <a:ext cx="2148840" cy="64008"/>
          </a:xfrm>
          <a:prstGeom prst="rect">
            <a:avLst/>
          </a:prstGeom>
          <a:solidFill>
            <a:srgbClr val="A94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57799" y="1682495"/>
            <a:ext cx="19659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A94531"/>
                </a:solidFill>
                <a:latin typeface="Arial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57799" y="1901952"/>
            <a:ext cx="1965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8212B"/>
                </a:solidFill>
                <a:latin typeface="Arial"/>
              </a:rPr>
              <a:t> AUTH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57799" y="2176272"/>
            <a:ext cx="1965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10" b="0" i="0">
                <a:solidFill>
                  <a:srgbClr val="5E6870"/>
                </a:solidFill>
                <a:latin typeface="Arial"/>
              </a:rPr>
              <a:t>SPF / DKIM / DMARC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315200" y="2057400"/>
            <a:ext cx="256031" cy="0"/>
          </a:xfrm>
          <a:prstGeom prst="line">
            <a:avLst/>
          </a:prstGeom>
          <a:ln w="16510">
            <a:solidFill>
              <a:srgbClr val="5E6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7498079" y="1554480"/>
            <a:ext cx="2148840" cy="1005840"/>
          </a:xfrm>
          <a:prstGeom prst="rect">
            <a:avLst/>
          </a:prstGeom>
          <a:solidFill>
            <a:srgbClr val="EAF3F8"/>
          </a:solidFill>
          <a:ln w="12700">
            <a:solidFill>
              <a:srgbClr val="CBD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98079" y="1554480"/>
            <a:ext cx="2148840" cy="64008"/>
          </a:xfrm>
          <a:prstGeom prst="rect">
            <a:avLst/>
          </a:prstGeom>
          <a:solidFill>
            <a:srgbClr val="126E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89519" y="1682495"/>
            <a:ext cx="19659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126EAA"/>
                </a:solidFill>
                <a:latin typeface="Arial"/>
              </a:rPr>
              <a:t>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89519" y="1901952"/>
            <a:ext cx="1965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8212B"/>
                </a:solidFill>
                <a:latin typeface="Arial"/>
              </a:rPr>
              <a:t> ORIGIN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89519" y="2176272"/>
            <a:ext cx="1965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10" b="0" i="0">
                <a:solidFill>
                  <a:srgbClr val="5E6870"/>
                </a:solidFill>
                <a:latin typeface="Arial"/>
              </a:rPr>
              <a:t>hops + hosting intel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646919" y="2057400"/>
            <a:ext cx="256032" cy="0"/>
          </a:xfrm>
          <a:prstGeom prst="line">
            <a:avLst/>
          </a:prstGeom>
          <a:ln w="16510">
            <a:solidFill>
              <a:srgbClr val="5E6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9829800" y="1554480"/>
            <a:ext cx="2148840" cy="1005840"/>
          </a:xfrm>
          <a:prstGeom prst="rect">
            <a:avLst/>
          </a:prstGeom>
          <a:solidFill>
            <a:srgbClr val="F7E9E4"/>
          </a:solidFill>
          <a:ln w="12700">
            <a:solidFill>
              <a:srgbClr val="CBD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829800" y="1554480"/>
            <a:ext cx="2148840" cy="64008"/>
          </a:xfrm>
          <a:prstGeom prst="rect">
            <a:avLst/>
          </a:prstGeom>
          <a:solidFill>
            <a:srgbClr val="A94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921240" y="1682495"/>
            <a:ext cx="19659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A94531"/>
                </a:solidFill>
                <a:latin typeface="Arial"/>
              </a:rPr>
              <a:t>05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21240" y="1901952"/>
            <a:ext cx="1965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8212B"/>
                </a:solidFill>
                <a:latin typeface="Arial"/>
              </a:rPr>
              <a:t> OUTPUT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21240" y="2176272"/>
            <a:ext cx="1965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10" b="0" i="0">
                <a:solidFill>
                  <a:srgbClr val="5E6870"/>
                </a:solidFill>
                <a:latin typeface="Arial"/>
              </a:rPr>
              <a:t>score + map + graph + PDF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2816352"/>
            <a:ext cx="2560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126EAA"/>
                </a:solidFill>
                <a:latin typeface="Arial"/>
              </a:rPr>
              <a:t>IMPLEMENTED PROTOTYPE</a:t>
            </a:r>
          </a:p>
        </p:txBody>
      </p:sp>
      <p:sp>
        <p:nvSpPr>
          <p:cNvPr id="46" name="Oval 45"/>
          <p:cNvSpPr/>
          <p:nvPr/>
        </p:nvSpPr>
        <p:spPr>
          <a:xfrm>
            <a:off x="502920" y="3163824"/>
            <a:ext cx="64008" cy="64008"/>
          </a:xfrm>
          <a:prstGeom prst="ellipse">
            <a:avLst/>
          </a:prstGeom>
          <a:solidFill>
            <a:srgbClr val="A94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3090672"/>
            <a:ext cx="48463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19" b="0" i="0">
                <a:solidFill>
                  <a:srgbClr val="18212B"/>
                </a:solidFill>
                <a:latin typeface="Arial"/>
              </a:rPr>
              <a:t>FastAPI + Python email parser + SQLite case store</a:t>
            </a:r>
          </a:p>
        </p:txBody>
      </p:sp>
      <p:sp>
        <p:nvSpPr>
          <p:cNvPr id="48" name="Oval 47"/>
          <p:cNvSpPr/>
          <p:nvPr/>
        </p:nvSpPr>
        <p:spPr>
          <a:xfrm>
            <a:off x="502920" y="3557016"/>
            <a:ext cx="64008" cy="64008"/>
          </a:xfrm>
          <a:prstGeom prst="ellipse">
            <a:avLst/>
          </a:prstGeom>
          <a:solidFill>
            <a:srgbClr val="A94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3483864"/>
            <a:ext cx="48463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19" b="0" i="0">
                <a:solidFill>
                  <a:srgbClr val="18212B"/>
                </a:solidFill>
                <a:latin typeface="Arial"/>
              </a:rPr>
              <a:t>NetworkX campaign graph + Leaflet hop map</a:t>
            </a:r>
          </a:p>
        </p:txBody>
      </p:sp>
      <p:sp>
        <p:nvSpPr>
          <p:cNvPr id="50" name="Oval 49"/>
          <p:cNvSpPr/>
          <p:nvPr/>
        </p:nvSpPr>
        <p:spPr>
          <a:xfrm>
            <a:off x="502920" y="3950208"/>
            <a:ext cx="64008" cy="64008"/>
          </a:xfrm>
          <a:prstGeom prst="ellipse">
            <a:avLst/>
          </a:prstGeom>
          <a:solidFill>
            <a:srgbClr val="A94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0080" y="3877056"/>
            <a:ext cx="48463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19" b="0" i="0">
                <a:solidFill>
                  <a:srgbClr val="18212B"/>
                </a:solidFill>
                <a:latin typeface="Arial"/>
              </a:rPr>
              <a:t>ReportLab forensic PDF with exact-file SHA-256</a:t>
            </a:r>
          </a:p>
        </p:txBody>
      </p:sp>
      <p:sp>
        <p:nvSpPr>
          <p:cNvPr id="52" name="Oval 51"/>
          <p:cNvSpPr/>
          <p:nvPr/>
        </p:nvSpPr>
        <p:spPr>
          <a:xfrm>
            <a:off x="502920" y="4343400"/>
            <a:ext cx="64008" cy="64008"/>
          </a:xfrm>
          <a:prstGeom prst="ellipse">
            <a:avLst/>
          </a:prstGeom>
          <a:solidFill>
            <a:srgbClr val="A94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0080" y="4270248"/>
            <a:ext cx="48463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19" b="0" i="0">
                <a:solidFill>
                  <a:srgbClr val="18212B"/>
                </a:solidFill>
                <a:latin typeface="Arial"/>
              </a:rPr>
              <a:t>Offline demo intelligence keeps laptop runs reproducible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806440" y="2816352"/>
            <a:ext cx="2560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A94531"/>
                </a:solidFill>
                <a:latin typeface="Arial"/>
              </a:rPr>
              <a:t>REAL LOCALHOST PROOF</a:t>
            </a:r>
          </a:p>
        </p:txBody>
      </p:sp>
      <p:pic>
        <p:nvPicPr>
          <p:cNvPr id="55" name="Picture 54" descr="case_head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0" y="3090672"/>
            <a:ext cx="5806440" cy="841248"/>
          </a:xfrm>
          <a:prstGeom prst="rect">
            <a:avLst/>
          </a:prstGeom>
        </p:spPr>
      </p:pic>
      <p:pic>
        <p:nvPicPr>
          <p:cNvPr id="56" name="Picture 55" descr="case_low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06440" y="4023360"/>
            <a:ext cx="5806440" cy="1033271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5806440" y="5166360"/>
            <a:ext cx="56692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5E6870"/>
                </a:solidFill>
                <a:latin typeface="Arial"/>
              </a:rPr>
              <a:t>Captured from the local case screen: score, reasons, hop map and evidence footer.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wrap="square" lIns="45720" rIns="45720" tIns="27432" bIns="27432"/>
          <a:lstStyle/>
          <a:p>
            <a:pPr marL="0" marR="0" lvl="0" indent="0" algn="ct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sz="900" b="0">
                <a:solidFill>
                  <a:srgbClr val="FFFFFF"/>
                </a:solidFill>
                <a:latin typeface="Arial"/>
              </a:rPr>
              <a:t>4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2920" y="502920"/>
            <a:ext cx="10972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212B"/>
                </a:solidFill>
                <a:latin typeface="Georgia"/>
              </a:rPr>
              <a:t>Feasible now; harden the edges as adoption grows.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896112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E6870"/>
                </a:solidFill>
                <a:latin typeface="Arial"/>
              </a:rPr>
              <a:t>The first version runs on a laptop and avoids fragile live dependencies. The production path is modular.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1261872"/>
            <a:ext cx="2011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126EAA"/>
                </a:solidFill>
                <a:latin typeface="Arial"/>
              </a:rPr>
              <a:t>FEASIBILITY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1572768"/>
            <a:ext cx="5349240" cy="2084831"/>
          </a:xfrm>
          <a:prstGeom prst="rect">
            <a:avLst/>
          </a:prstGeom>
          <a:solidFill>
            <a:srgbClr val="EAF3F8"/>
          </a:solidFill>
          <a:ln w="12700">
            <a:solidFill>
              <a:srgbClr val="CBD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792224"/>
            <a:ext cx="484632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26EAA"/>
                </a:solidFill>
                <a:latin typeface="Arial"/>
              </a:rPr>
              <a:t>NOW  /  IDEA-ROUND PROTOTYPE</a:t>
            </a:r>
          </a:p>
        </p:txBody>
      </p:sp>
      <p:sp>
        <p:nvSpPr>
          <p:cNvPr id="17" name="Oval 16"/>
          <p:cNvSpPr/>
          <p:nvPr/>
        </p:nvSpPr>
        <p:spPr>
          <a:xfrm>
            <a:off x="749808" y="2176272"/>
            <a:ext cx="64008" cy="64008"/>
          </a:xfrm>
          <a:prstGeom prst="ellipse">
            <a:avLst/>
          </a:prstGeom>
          <a:solidFill>
            <a:srgbClr val="A94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2103120"/>
            <a:ext cx="46177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10" b="0" i="0">
                <a:solidFill>
                  <a:srgbClr val="18212B"/>
                </a:solidFill>
                <a:latin typeface="Arial"/>
              </a:rPr>
              <a:t>Saved .eml upload; no mailbox credentials</a:t>
            </a:r>
          </a:p>
        </p:txBody>
      </p:sp>
      <p:sp>
        <p:nvSpPr>
          <p:cNvPr id="19" name="Oval 18"/>
          <p:cNvSpPr/>
          <p:nvPr/>
        </p:nvSpPr>
        <p:spPr>
          <a:xfrm>
            <a:off x="749808" y="2569464"/>
            <a:ext cx="64008" cy="64008"/>
          </a:xfrm>
          <a:prstGeom prst="ellipse">
            <a:avLst/>
          </a:prstGeom>
          <a:solidFill>
            <a:srgbClr val="A94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" y="2496312"/>
            <a:ext cx="46177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10" b="0" i="0">
                <a:solidFill>
                  <a:srgbClr val="18212B"/>
                </a:solidFill>
                <a:latin typeface="Arial"/>
              </a:rPr>
              <a:t>Eight crafted cases for spoof, phish, BEC and campaign paths</a:t>
            </a:r>
          </a:p>
        </p:txBody>
      </p:sp>
      <p:sp>
        <p:nvSpPr>
          <p:cNvPr id="21" name="Oval 20"/>
          <p:cNvSpPr/>
          <p:nvPr/>
        </p:nvSpPr>
        <p:spPr>
          <a:xfrm>
            <a:off x="749808" y="2962656"/>
            <a:ext cx="64008" cy="64008"/>
          </a:xfrm>
          <a:prstGeom prst="ellipse">
            <a:avLst/>
          </a:prstGeom>
          <a:solidFill>
            <a:srgbClr val="A94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6968" y="2889504"/>
            <a:ext cx="46177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10" b="0" i="0">
                <a:solidFill>
                  <a:srgbClr val="18212B"/>
                </a:solidFill>
                <a:latin typeface="Arial"/>
              </a:rPr>
              <a:t>Offline demo geo/domain cache for reproducible runs</a:t>
            </a:r>
          </a:p>
        </p:txBody>
      </p:sp>
      <p:sp>
        <p:nvSpPr>
          <p:cNvPr id="23" name="Oval 22"/>
          <p:cNvSpPr/>
          <p:nvPr/>
        </p:nvSpPr>
        <p:spPr>
          <a:xfrm>
            <a:off x="749808" y="3355848"/>
            <a:ext cx="64008" cy="64008"/>
          </a:xfrm>
          <a:prstGeom prst="ellipse">
            <a:avLst/>
          </a:prstGeom>
          <a:solidFill>
            <a:srgbClr val="A94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3282696"/>
            <a:ext cx="46177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10" b="0" i="0">
                <a:solidFill>
                  <a:srgbClr val="18212B"/>
                </a:solidFill>
                <a:latin typeface="Arial"/>
              </a:rPr>
              <a:t>Local case store, graph, map and forensic PDF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99632" y="1572768"/>
            <a:ext cx="5413248" cy="2084831"/>
          </a:xfrm>
          <a:prstGeom prst="rect">
            <a:avLst/>
          </a:prstGeom>
          <a:solidFill>
            <a:srgbClr val="F7E9E4"/>
          </a:solidFill>
          <a:ln w="12700">
            <a:solidFill>
              <a:srgbClr val="CBD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28232" y="1792224"/>
            <a:ext cx="489204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A94531"/>
                </a:solidFill>
                <a:latin typeface="Arial"/>
              </a:rPr>
              <a:t>NEXT  /  PRODUCTION HARDENING</a:t>
            </a:r>
          </a:p>
        </p:txBody>
      </p:sp>
      <p:sp>
        <p:nvSpPr>
          <p:cNvPr id="27" name="Oval 26"/>
          <p:cNvSpPr/>
          <p:nvPr/>
        </p:nvSpPr>
        <p:spPr>
          <a:xfrm>
            <a:off x="6446520" y="2176272"/>
            <a:ext cx="64008" cy="64008"/>
          </a:xfrm>
          <a:prstGeom prst="ellipse">
            <a:avLst/>
          </a:prstGeom>
          <a:solidFill>
            <a:srgbClr val="A94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2103120"/>
            <a:ext cx="4663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10" b="0" i="0">
                <a:solidFill>
                  <a:srgbClr val="18212B"/>
                </a:solidFill>
                <a:latin typeface="Arial"/>
              </a:rPr>
              <a:t>Live DNS and cryptographic auth verification</a:t>
            </a:r>
          </a:p>
        </p:txBody>
      </p:sp>
      <p:sp>
        <p:nvSpPr>
          <p:cNvPr id="29" name="Oval 28"/>
          <p:cNvSpPr/>
          <p:nvPr/>
        </p:nvSpPr>
        <p:spPr>
          <a:xfrm>
            <a:off x="6446520" y="2569464"/>
            <a:ext cx="64008" cy="64008"/>
          </a:xfrm>
          <a:prstGeom prst="ellipse">
            <a:avLst/>
          </a:prstGeom>
          <a:solidFill>
            <a:srgbClr val="A94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0" y="2496312"/>
            <a:ext cx="4663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10" b="0" i="0">
                <a:solidFill>
                  <a:srgbClr val="18212B"/>
                </a:solidFill>
                <a:latin typeface="Arial"/>
              </a:rPr>
              <a:t>Maintained GeoIP/ASN data and private deployment</a:t>
            </a:r>
          </a:p>
        </p:txBody>
      </p:sp>
      <p:sp>
        <p:nvSpPr>
          <p:cNvPr id="31" name="Oval 30"/>
          <p:cNvSpPr/>
          <p:nvPr/>
        </p:nvSpPr>
        <p:spPr>
          <a:xfrm>
            <a:off x="6446520" y="2962656"/>
            <a:ext cx="64008" cy="64008"/>
          </a:xfrm>
          <a:prstGeom prst="ellipse">
            <a:avLst/>
          </a:prstGeom>
          <a:solidFill>
            <a:srgbClr val="A94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0" y="2889504"/>
            <a:ext cx="4663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10" b="0" i="0">
                <a:solidFill>
                  <a:srgbClr val="18212B"/>
                </a:solidFill>
                <a:latin typeface="Arial"/>
              </a:rPr>
              <a:t>Access control, PII masking and retention policies</a:t>
            </a:r>
          </a:p>
        </p:txBody>
      </p:sp>
      <p:sp>
        <p:nvSpPr>
          <p:cNvPr id="33" name="Oval 32"/>
          <p:cNvSpPr/>
          <p:nvPr/>
        </p:nvSpPr>
        <p:spPr>
          <a:xfrm>
            <a:off x="6446520" y="3355848"/>
            <a:ext cx="64008" cy="64008"/>
          </a:xfrm>
          <a:prstGeom prst="ellipse">
            <a:avLst/>
          </a:prstGeom>
          <a:solidFill>
            <a:srgbClr val="A94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0" y="3282696"/>
            <a:ext cx="4663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10" b="0" i="0">
                <a:solidFill>
                  <a:srgbClr val="18212B"/>
                </a:solidFill>
                <a:latin typeface="Arial"/>
              </a:rPr>
              <a:t>Larger labelled corpus, calibration and analyst feedback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3904487"/>
            <a:ext cx="23774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A94531"/>
                </a:solidFill>
                <a:latin typeface="Arial"/>
              </a:rPr>
              <a:t>RISKS AND MITIGATIONS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187952"/>
            <a:ext cx="11109960" cy="1170432"/>
          </a:xfrm>
          <a:prstGeom prst="rect">
            <a:avLst/>
          </a:prstGeom>
          <a:solidFill>
            <a:srgbClr val="FBFAF6"/>
          </a:solidFill>
          <a:ln w="12700">
            <a:solidFill>
              <a:srgbClr val="CBD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3232" y="4343400"/>
            <a:ext cx="21031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126EAA"/>
                </a:solidFill>
                <a:latin typeface="Arial"/>
              </a:rPr>
              <a:t>RISK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88920" y="4343400"/>
            <a:ext cx="84124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126EAA"/>
                </a:solidFill>
                <a:latin typeface="Arial"/>
              </a:rPr>
              <a:t>MITIGATION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3232" y="4590288"/>
            <a:ext cx="1920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40" b="1" i="0">
                <a:solidFill>
                  <a:srgbClr val="5E6870"/>
                </a:solidFill>
                <a:latin typeface="Arial"/>
              </a:rPr>
              <a:t>Headers may be forged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88920" y="4590288"/>
            <a:ext cx="8321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40" b="0" i="0">
                <a:solidFill>
                  <a:srgbClr val="18212B"/>
                </a:solidFill>
                <a:latin typeface="Arial"/>
              </a:rPr>
              <a:t>Show confidence; preserve raw evidence; never call a lead proof.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13232" y="4773168"/>
            <a:ext cx="10579608" cy="0"/>
          </a:xfrm>
          <a:prstGeom prst="line">
            <a:avLst/>
          </a:prstGeom>
          <a:ln w="7620">
            <a:solidFill>
              <a:srgbClr val="CBD1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713232" y="4846320"/>
            <a:ext cx="1920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40" b="1" i="0">
                <a:solidFill>
                  <a:srgbClr val="5E6870"/>
                </a:solidFill>
                <a:latin typeface="Arial"/>
              </a:rPr>
              <a:t>IP geo is not a person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88920" y="4846320"/>
            <a:ext cx="8321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40" b="0" i="0">
                <a:solidFill>
                  <a:srgbClr val="18212B"/>
                </a:solidFill>
                <a:latin typeface="Arial"/>
              </a:rPr>
              <a:t>Report hosting city/ISP only; explicitly reject GPS attribution.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713232" y="5029200"/>
            <a:ext cx="10579608" cy="0"/>
          </a:xfrm>
          <a:prstGeom prst="line">
            <a:avLst/>
          </a:prstGeom>
          <a:ln w="7620">
            <a:solidFill>
              <a:srgbClr val="CBD1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713232" y="5102352"/>
            <a:ext cx="1920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40" b="1" i="0">
                <a:solidFill>
                  <a:srgbClr val="5E6870"/>
                </a:solidFill>
                <a:latin typeface="Arial"/>
              </a:rPr>
              <a:t>Email is sensitive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788920" y="5102352"/>
            <a:ext cx="8321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40" b="0" i="0">
                <a:solidFill>
                  <a:srgbClr val="18212B"/>
                </a:solidFill>
                <a:latin typeface="Arial"/>
              </a:rPr>
              <a:t>Local-first workflow; no Gmail ingest; future masking and retention controls.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wrap="square" lIns="45720" rIns="45720" tIns="27432" bIns="27432"/>
          <a:lstStyle/>
          <a:p>
            <a:pPr marL="0" marR="0" lvl="0" indent="0" algn="ct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sz="900" b="0">
                <a:solidFill>
                  <a:srgbClr val="FFFFFF"/>
                </a:solidFill>
                <a:latin typeface="Arial"/>
              </a:rPr>
              <a:t>5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2920" y="502920"/>
            <a:ext cx="10972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212B"/>
                </a:solidFill>
                <a:latin typeface="Georgia"/>
              </a:rPr>
              <a:t>Impact: turn a vague warning into an actionable case.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896112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E6870"/>
                </a:solidFill>
                <a:latin typeface="Arial"/>
              </a:rPr>
              <a:t>MailTrace helps people explain what happened, preserve evidence and decide what to do next.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1261872"/>
            <a:ext cx="2011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126EAA"/>
                </a:solidFill>
                <a:latin typeface="Arial"/>
              </a:rPr>
              <a:t>ANALYST DIFFERENCE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1572768"/>
            <a:ext cx="3063240" cy="1353312"/>
          </a:xfrm>
          <a:prstGeom prst="rect">
            <a:avLst/>
          </a:prstGeom>
          <a:solidFill>
            <a:srgbClr val="EAF3F8"/>
          </a:solidFill>
          <a:ln w="12700">
            <a:solidFill>
              <a:srgbClr val="CBD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1810512"/>
            <a:ext cx="25603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26EAA"/>
                </a:solidFill>
                <a:latin typeface="Arial"/>
              </a:rPr>
              <a:t>FILTER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2121408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8212B"/>
                </a:solidFill>
                <a:latin typeface="Georgia"/>
              </a:rPr>
              <a:t>spam / not spam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2523744"/>
            <a:ext cx="2560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19" b="0" i="0">
                <a:solidFill>
                  <a:srgbClr val="5E6870"/>
                </a:solidFill>
                <a:latin typeface="Arial"/>
              </a:rPr>
              <a:t>A label leaves the next question unanswered.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703320" y="2258568"/>
            <a:ext cx="521208" cy="0"/>
          </a:xfrm>
          <a:prstGeom prst="line">
            <a:avLst/>
          </a:prstGeom>
          <a:ln w="31750">
            <a:solidFill>
              <a:srgbClr val="A945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4462272" y="1481328"/>
            <a:ext cx="7150608" cy="1536192"/>
          </a:xfrm>
          <a:prstGeom prst="rect">
            <a:avLst/>
          </a:prstGeom>
          <a:solidFill>
            <a:srgbClr val="F7E9E4"/>
          </a:solidFill>
          <a:ln w="12700">
            <a:solidFill>
              <a:srgbClr val="A945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09160" y="1737360"/>
            <a:ext cx="65379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94531"/>
                </a:solidFill>
                <a:latin typeface="Arial"/>
              </a:rPr>
              <a:t>MAILTRACE CASE FILE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09160" y="2057400"/>
            <a:ext cx="6537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8212B"/>
                </a:solidFill>
                <a:latin typeface="Arial"/>
              </a:rPr>
              <a:t>SPF fail  ·  Reply-To mismatch  ·  earliest hop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09160" y="2395728"/>
            <a:ext cx="6537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19" b="0" i="0">
                <a:solidFill>
                  <a:srgbClr val="5E6870"/>
                </a:solidFill>
                <a:latin typeface="Arial"/>
              </a:rPr>
              <a:t>Frankfurt / AWS  ·  related case 08  ·  SHA-256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3319272"/>
            <a:ext cx="2560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126EAA"/>
                </a:solidFill>
                <a:latin typeface="Arial"/>
              </a:rPr>
              <a:t>TARGET USERS AND VALUE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3584448"/>
            <a:ext cx="11109960" cy="1115568"/>
          </a:xfrm>
          <a:prstGeom prst="rect">
            <a:avLst/>
          </a:prstGeom>
          <a:solidFill>
            <a:srgbClr val="FBFAF6"/>
          </a:solidFill>
          <a:ln w="12700">
            <a:solidFill>
              <a:srgbClr val="CBD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3785615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80" b="1" i="0">
                <a:solidFill>
                  <a:srgbClr val="5E6870"/>
                </a:solidFill>
                <a:latin typeface="Arial"/>
              </a:rPr>
              <a:t>IT / helpdesk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26080" y="3785615"/>
            <a:ext cx="8229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80" b="0" i="0">
                <a:solidFill>
                  <a:srgbClr val="18212B"/>
                </a:solidFill>
                <a:latin typeface="Arial"/>
              </a:rPr>
              <a:t>Triage a suspicious message with reasons they can cite.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13232" y="3986783"/>
            <a:ext cx="10579608" cy="0"/>
          </a:xfrm>
          <a:prstGeom prst="line">
            <a:avLst/>
          </a:prstGeom>
          <a:ln w="7620">
            <a:solidFill>
              <a:srgbClr val="CBD1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13232" y="4059935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80" b="1" i="0">
                <a:solidFill>
                  <a:srgbClr val="5E6870"/>
                </a:solidFill>
                <a:latin typeface="Arial"/>
              </a:rPr>
              <a:t>SOC / incident response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26080" y="4059935"/>
            <a:ext cx="8229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80" b="0" i="0">
                <a:solidFill>
                  <a:srgbClr val="18212B"/>
                </a:solidFill>
                <a:latin typeface="Arial"/>
              </a:rPr>
              <a:t>Preserve original evidence and connect related messages.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3232" y="4261103"/>
            <a:ext cx="10579608" cy="0"/>
          </a:xfrm>
          <a:prstGeom prst="line">
            <a:avLst/>
          </a:prstGeom>
          <a:ln w="7620">
            <a:solidFill>
              <a:srgbClr val="CBD1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713232" y="4334255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80" b="1" i="0">
                <a:solidFill>
                  <a:srgbClr val="5E6870"/>
                </a:solidFill>
                <a:latin typeface="Arial"/>
              </a:rPr>
              <a:t>Universities / SMEs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26080" y="4334255"/>
            <a:ext cx="8229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80" b="0" i="0">
                <a:solidFill>
                  <a:srgbClr val="18212B"/>
                </a:solidFill>
                <a:latin typeface="Arial"/>
              </a:rPr>
              <a:t>Run locally without handing an inbox to a third party.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4983480"/>
            <a:ext cx="3383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A94531"/>
                </a:solidFill>
                <a:latin typeface="Arial"/>
              </a:rPr>
              <a:t>PILOT MEASURES  /  NO INVENTED NUMBERS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86200" y="4983480"/>
            <a:ext cx="76809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60" b="0" i="0">
                <a:solidFill>
                  <a:srgbClr val="5E6870"/>
                </a:solidFill>
                <a:latin typeface="Arial"/>
              </a:rPr>
              <a:t>time-to-triage  ·  evidence completeness  ·  linked-campaign discovery  ·  analyst agreement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wrap="square" lIns="45720" rIns="45720" tIns="27432" bIns="27432"/>
          <a:lstStyle/>
          <a:p>
            <a:pPr marL="0" marR="0" lvl="0" indent="0" algn="ct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sz="900" b="0">
                <a:solidFill>
                  <a:srgbClr val="FFFFFF"/>
                </a:solidFill>
                <a:latin typeface="Arial"/>
              </a:rPr>
              <a:t>6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02920" y="502920"/>
            <a:ext cx="10972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212B"/>
                </a:solidFill>
                <a:latin typeface="Georgia"/>
              </a:rPr>
              <a:t>Research basis and implementation references.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896112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E6870"/>
                </a:solidFill>
                <a:latin typeface="Arial"/>
              </a:rPr>
              <a:t>The prototype maps directly to SIH26106 while keeping attribution and privacy claims bounded.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1261872"/>
            <a:ext cx="23774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126EAA"/>
                </a:solidFill>
                <a:latin typeface="Arial"/>
              </a:rPr>
              <a:t>PROBLEM + STANDARDS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1536192"/>
            <a:ext cx="5349240" cy="2423160"/>
          </a:xfrm>
          <a:prstGeom prst="rect">
            <a:avLst/>
          </a:prstGeom>
          <a:solidFill>
            <a:srgbClr val="FBFAF6"/>
          </a:solidFill>
          <a:ln w="12700">
            <a:solidFill>
              <a:srgbClr val="CBD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1755648"/>
            <a:ext cx="4846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94531"/>
                </a:solidFill>
                <a:latin typeface="Arial"/>
              </a:rPr>
              <a:t>SIH26106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10512" y="1755648"/>
            <a:ext cx="370332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8212B"/>
                </a:solidFill>
                <a:latin typeface="Arial"/>
              </a:rPr>
              <a:t>Official PS: NLP/ML detection, header forensics, IP geo, domain intelligence, graph correlation and forensic reporting.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2423160"/>
            <a:ext cx="4846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94531"/>
                </a:solidFill>
                <a:latin typeface="Arial"/>
              </a:rPr>
              <a:t>RFC 5322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10512" y="2423160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8212B"/>
                </a:solidFill>
                <a:latin typeface="Arial"/>
              </a:rPr>
              <a:t>Internet Message Format: structured headers, message IDs and Received fields.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3035808"/>
            <a:ext cx="4846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94531"/>
                </a:solidFill>
                <a:latin typeface="Arial"/>
              </a:rPr>
              <a:t>RFC 7208 / 6376 / 7489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40280" y="3035808"/>
            <a:ext cx="32735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8212B"/>
                </a:solidFill>
                <a:latin typeface="Arial"/>
              </a:rPr>
              <a:t>SPF, DKIM and DMARC concepts used for authentication evidence and alignment.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99632" y="1261872"/>
            <a:ext cx="2011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A94531"/>
                </a:solidFill>
                <a:latin typeface="Arial"/>
              </a:rPr>
              <a:t>BUILD REFERENCES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9632" y="1536192"/>
            <a:ext cx="5413248" cy="2423160"/>
          </a:xfrm>
          <a:prstGeom prst="rect">
            <a:avLst/>
          </a:prstGeom>
          <a:solidFill>
            <a:srgbClr val="FBFAF6"/>
          </a:solidFill>
          <a:ln w="12700">
            <a:solidFill>
              <a:srgbClr val="CBD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19088" y="1755648"/>
            <a:ext cx="13258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94531"/>
                </a:solidFill>
                <a:latin typeface="Arial"/>
              </a:rPr>
              <a:t>Python email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1755648"/>
            <a:ext cx="3566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8212B"/>
                </a:solidFill>
                <a:latin typeface="Arial"/>
              </a:rPr>
              <a:t>MIME parsing; attachments named and hashed, never executed.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19088" y="2331720"/>
            <a:ext cx="13258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94531"/>
                </a:solidFill>
                <a:latin typeface="Arial"/>
              </a:rPr>
              <a:t>NetworkX + Leaflet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331720"/>
            <a:ext cx="3566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8212B"/>
                </a:solidFill>
                <a:latin typeface="Arial"/>
              </a:rPr>
              <a:t>Relationship graph and hop map for analyst inspection.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19088" y="2907792"/>
            <a:ext cx="13258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94531"/>
                </a:solidFill>
                <a:latin typeface="Arial"/>
              </a:rPr>
              <a:t>ReportLab + SHA-256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0" y="2907792"/>
            <a:ext cx="35661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8212B"/>
                </a:solidFill>
                <a:latin typeface="Arial"/>
              </a:rPr>
              <a:t>Portable case PDF and integrity fingerprint of the exact uploaded bytes.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4096512"/>
            <a:ext cx="1920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126EAA"/>
                </a:solidFill>
                <a:latin typeface="Arial"/>
              </a:rPr>
              <a:t>SCOPE AND SAFETY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352544"/>
            <a:ext cx="11109960" cy="749808"/>
          </a:xfrm>
          <a:prstGeom prst="rect">
            <a:avLst/>
          </a:prstGeom>
          <a:solidFill>
            <a:srgbClr val="EAF3F8"/>
          </a:solidFill>
          <a:ln w="12700">
            <a:solidFill>
              <a:srgbClr val="CBD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1520" y="4535424"/>
            <a:ext cx="50292" cy="50292"/>
          </a:xfrm>
          <a:prstGeom prst="ellipse">
            <a:avLst/>
          </a:prstGeom>
          <a:solidFill>
            <a:srgbClr val="A94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0392" y="4489704"/>
            <a:ext cx="1048816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40" b="0" i="0">
                <a:solidFill>
                  <a:srgbClr val="18212B"/>
                </a:solidFill>
                <a:latin typeface="Arial"/>
              </a:rPr>
              <a:t>Local crafted .eml files only; no Gmail/Outlook ingest and no real phishing messages.</a:t>
            </a:r>
          </a:p>
        </p:txBody>
      </p:sp>
      <p:sp>
        <p:nvSpPr>
          <p:cNvPr id="35" name="Oval 34"/>
          <p:cNvSpPr/>
          <p:nvPr/>
        </p:nvSpPr>
        <p:spPr>
          <a:xfrm>
            <a:off x="731520" y="4736592"/>
            <a:ext cx="50292" cy="50292"/>
          </a:xfrm>
          <a:prstGeom prst="ellipse">
            <a:avLst/>
          </a:prstGeom>
          <a:solidFill>
            <a:srgbClr val="A94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0392" y="4690872"/>
            <a:ext cx="1048816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40" b="0" i="0">
                <a:solidFill>
                  <a:srgbClr val="18212B"/>
                </a:solidFill>
                <a:latin typeface="Arial"/>
              </a:rPr>
              <a:t>Geo output is hosting infrastructure with confidence, never the exact location of a person.</a:t>
            </a:r>
          </a:p>
        </p:txBody>
      </p:sp>
      <p:sp>
        <p:nvSpPr>
          <p:cNvPr id="37" name="Oval 36"/>
          <p:cNvSpPr/>
          <p:nvPr/>
        </p:nvSpPr>
        <p:spPr>
          <a:xfrm>
            <a:off x="731520" y="4937759"/>
            <a:ext cx="50292" cy="50292"/>
          </a:xfrm>
          <a:prstGeom prst="ellipse">
            <a:avLst/>
          </a:prstGeom>
          <a:solidFill>
            <a:srgbClr val="A94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0392" y="4892040"/>
            <a:ext cx="1048816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40" b="0" i="0">
                <a:solidFill>
                  <a:srgbClr val="18212B"/>
                </a:solidFill>
                <a:latin typeface="Arial"/>
              </a:rPr>
              <a:t>Evidence hash is an integrity fingerprint, not a public blockchain or cryptocurrency ledger.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5285232"/>
            <a:ext cx="109728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20" b="0" i="0">
                <a:solidFill>
                  <a:srgbClr val="5E6870"/>
                </a:solidFill>
                <a:latin typeface="Arial"/>
              </a:rPr>
              <a:t>Source links: sih.gov.in/sih2026PS  ·  rfc-editor.org  ·  docs.python.org  ·  networkx.org  ·  leafletjs.com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MailTrace - SIH26106 Idea Presentation</dc:title>
  <dc:subject>SIH 2026 idea submission</dc:subject>
  <dc:creator>MailTrace team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